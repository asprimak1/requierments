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1BEA-7D35-4996-98B4-C8C09E9738F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F2DCF-AC60-46A5-86F1-968F2E207D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09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F2DCF-AC60-46A5-86F1-968F2E207DE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526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4B47D-A7B5-45C6-A3C8-DCFFBF615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CB81C8-D7B6-498B-BC47-1BF49DED0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A79F7B-972B-4C1E-AA0E-8411F256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9379FA-EE0A-49DE-A959-4440710E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5AA4A-DB03-4F98-8CB9-CCB0E750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49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B5C8A-5E2B-4681-8C76-F5F252DB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2C0A43-39A6-4AA6-8A2C-536E56D3A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3D3F89-EDBA-4B53-8385-D95E17DF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B09D72-CF92-4E97-BC19-E49D5A4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05047E-4457-4BB8-8B40-71E4F972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994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1EBDD-A3F4-4D42-ABDB-97D19364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08F03A-5F7B-4033-8D7B-B116DA712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BB865F-E6F6-4664-B5A6-3B14AB35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CC3958-8D81-41B6-904C-D91247FC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B60567-C0E1-41EF-ABFF-1A3139BB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47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D9731-2A77-4C0B-B592-0FD23FF9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F2FF2D-2C35-408E-B9BE-64DA7511C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0C781F-F86F-4243-BB1F-4190A0829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2AD1E8-54F0-4AEA-906C-9A62256F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238990-0C20-4C0B-B330-8417E00D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93F7B6-0A43-4078-9EB6-AD1E7048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19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92CF7-341E-434D-B82B-7A5E81FA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EEDA67-3459-48AB-9672-15D1762EE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BC39A2-86DB-49C5-8080-A06C2A36E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444E4EC-E939-44F1-875F-C6A61AA16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C90D3B-CCAE-4A72-9E62-D075AA1D4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CD38C3-425D-4133-80C6-6795854C4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9C9837F-8741-4780-B8EE-E02A19D9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7BA50D-9E97-4990-AA4F-9165553C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34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018A7-6517-4071-912C-69068941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583107-D399-4F86-83AC-E643B1CF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B70E60-38CC-4456-8312-E132A4F0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064EAF-165F-4879-856A-30D748F9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43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7D3D00-1BDF-41AE-83DF-27A24F4C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BCB0FF-3EC5-48C6-8FD0-36EF3AA5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22C1FC-AC4E-42DE-87D4-6CCC724F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32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3BAC8-14BF-46EC-A57D-515B3A1D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E811C8-40B2-4F23-9F58-3D954A59F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3B24A2-0415-4205-BEF0-7AE7B1997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153EE1-613A-4469-9461-A7F1D9C9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A8072F-AD7A-4E7A-A8F8-CACE47BF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8D7AFF-8DE5-4106-ABDA-89CB5D6A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837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BBA83-682A-40AB-A33A-38BC1975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0DAA50-2D15-4BCB-8032-E60092E57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E372C3-3C1D-4043-82E6-FA7FDA706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A0B35-EDF2-4D2C-BA20-223D1A32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CE8C09-37F9-4E88-9CF7-922FEF1D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F1CC47-C492-4EAE-BD20-251A1916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7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6FEDE-BD96-4E17-829D-4AD05CAE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2242D0-FFA9-4155-9672-EF048E882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117954-6593-4EB3-B787-19FAF2DA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F8859D-473A-48FB-8EDF-9FC7924C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0E372E-3E9E-4E44-90A9-7E41FE41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47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89E990B-FD6D-4244-94FB-47C779D32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9DC5D7-A590-4554-B48C-A14BC3565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7E6BC-D0F8-44AC-B095-1454C875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D4D06-EB46-4A21-97E1-0467E237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8F5119-ABFB-4FCC-91CB-2FE90FA5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7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736A5-9ABE-452B-87F1-F28015D5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705287-B8CA-4C50-BCB3-C0D1FC180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78B5FD-D43D-4CFC-BF08-3E3FCD6B2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5B794-F5E3-499D-B534-9645B84E5914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E4110F-2CA5-4CB7-96F5-7F0D06839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6B4952-2BAB-4EE6-8BB7-50F766251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DC4B2-F98F-42C3-983F-BB1C2B8856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06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A7128-36FF-405C-A5F8-806B42C6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4623" y="550661"/>
            <a:ext cx="9144000" cy="3979793"/>
          </a:xfrm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A Font with Serifs" panose="02000000000000000000" pitchFamily="2" charset="0"/>
              </a:rPr>
              <a:t>Что такое функциональные требования </a:t>
            </a:r>
            <a:br>
              <a:rPr lang="ru-RU" b="1" dirty="0">
                <a:solidFill>
                  <a:srgbClr val="FF0000"/>
                </a:solidFill>
                <a:latin typeface="A Font with Serifs" panose="02000000000000000000" pitchFamily="2" charset="0"/>
              </a:rPr>
            </a:br>
            <a:r>
              <a:rPr lang="ru-RU" b="1" dirty="0">
                <a:solidFill>
                  <a:srgbClr val="FF0000"/>
                </a:solidFill>
                <a:latin typeface="A Font with Serifs" panose="02000000000000000000" pitchFamily="2" charset="0"/>
              </a:rPr>
              <a:t>и </a:t>
            </a:r>
            <a:br>
              <a:rPr lang="ru-RU" b="1" dirty="0">
                <a:solidFill>
                  <a:srgbClr val="FF0000"/>
                </a:solidFill>
                <a:latin typeface="A Font with Serifs" panose="02000000000000000000" pitchFamily="2" charset="0"/>
              </a:rPr>
            </a:br>
            <a:r>
              <a:rPr lang="ru-RU" b="1" dirty="0">
                <a:solidFill>
                  <a:srgbClr val="FF0000"/>
                </a:solidFill>
                <a:latin typeface="A Font with Serifs" panose="02000000000000000000" pitchFamily="2" charset="0"/>
              </a:rPr>
              <a:t>как их разрабатывать</a:t>
            </a:r>
          </a:p>
        </p:txBody>
      </p:sp>
    </p:spTree>
    <p:extLst>
      <p:ext uri="{BB962C8B-B14F-4D97-AF65-F5344CB8AC3E}">
        <p14:creationId xmlns:p14="http://schemas.microsoft.com/office/powerpoint/2010/main" val="411791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291DF-D448-4191-9455-9E604F69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объекта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46453-C6E3-4EE1-B37C-03DAA3FDF12B}"/>
              </a:ext>
            </a:extLst>
          </p:cNvPr>
          <p:cNvSpPr txBox="1"/>
          <p:nvPr/>
        </p:nvSpPr>
        <p:spPr>
          <a:xfrm>
            <a:off x="703378" y="1400751"/>
            <a:ext cx="10351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Свойство объекта </a:t>
            </a:r>
            <a:r>
              <a:rPr lang="ru-RU" dirty="0"/>
              <a:t>– это отношение объекта к другому объекту или другим объектам в окружающем мире.</a:t>
            </a:r>
          </a:p>
        </p:txBody>
      </p:sp>
      <p:sp>
        <p:nvSpPr>
          <p:cNvPr id="6" name="Молния 5">
            <a:extLst>
              <a:ext uri="{FF2B5EF4-FFF2-40B4-BE49-F238E27FC236}">
                <a16:creationId xmlns:a16="http://schemas.microsoft.com/office/drawing/2014/main" id="{A1CAC1CF-3E7B-4FA5-BD0A-78F1C701A62A}"/>
              </a:ext>
            </a:extLst>
          </p:cNvPr>
          <p:cNvSpPr/>
          <p:nvPr/>
        </p:nvSpPr>
        <p:spPr>
          <a:xfrm>
            <a:off x="6404371" y="2809875"/>
            <a:ext cx="1327150" cy="1238250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лако 6">
            <a:extLst>
              <a:ext uri="{FF2B5EF4-FFF2-40B4-BE49-F238E27FC236}">
                <a16:creationId xmlns:a16="http://schemas.microsoft.com/office/drawing/2014/main" id="{82A836E7-0D03-420A-A4DE-7DAA627B3043}"/>
              </a:ext>
            </a:extLst>
          </p:cNvPr>
          <p:cNvSpPr/>
          <p:nvPr/>
        </p:nvSpPr>
        <p:spPr>
          <a:xfrm>
            <a:off x="3702843" y="3099018"/>
            <a:ext cx="1911350" cy="958850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везда: 5 точек 8">
            <a:extLst>
              <a:ext uri="{FF2B5EF4-FFF2-40B4-BE49-F238E27FC236}">
                <a16:creationId xmlns:a16="http://schemas.microsoft.com/office/drawing/2014/main" id="{5C2686CD-DCB6-4BF0-9AF6-8523FFB8847F}"/>
              </a:ext>
            </a:extLst>
          </p:cNvPr>
          <p:cNvSpPr/>
          <p:nvPr/>
        </p:nvSpPr>
        <p:spPr>
          <a:xfrm>
            <a:off x="792162" y="2590800"/>
            <a:ext cx="2181225" cy="1579782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0F55A7-155D-4383-9979-DB16E35C2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405" y="2090317"/>
            <a:ext cx="2832100" cy="37761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0EAB0D-64D6-40E1-B072-5809715F23E7}"/>
              </a:ext>
            </a:extLst>
          </p:cNvPr>
          <p:cNvSpPr txBox="1"/>
          <p:nvPr/>
        </p:nvSpPr>
        <p:spPr>
          <a:xfrm>
            <a:off x="637324" y="5049838"/>
            <a:ext cx="1035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Свойствами объекта являются: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характеристики объекта (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цвет, запах, вкус, форма, температура, плотность, объем</a:t>
            </a:r>
            <a:r>
              <a:rPr lang="ru-RU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поведение объекта (способность объекта реагировать на внешние воздействия),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назначение объекта (функция)</a:t>
            </a:r>
          </a:p>
        </p:txBody>
      </p:sp>
    </p:spTree>
    <p:extLst>
      <p:ext uri="{BB962C8B-B14F-4D97-AF65-F5344CB8AC3E}">
        <p14:creationId xmlns:p14="http://schemas.microsoft.com/office/powerpoint/2010/main" val="374604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DE65E-B9BB-42CF-A17E-1956827F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функция?</a:t>
            </a:r>
          </a:p>
        </p:txBody>
      </p:sp>
      <p:sp>
        <p:nvSpPr>
          <p:cNvPr id="4" name="Солнце 3">
            <a:extLst>
              <a:ext uri="{FF2B5EF4-FFF2-40B4-BE49-F238E27FC236}">
                <a16:creationId xmlns:a16="http://schemas.microsoft.com/office/drawing/2014/main" id="{33E24489-4585-46A5-AF59-724CA27B5FA9}"/>
              </a:ext>
            </a:extLst>
          </p:cNvPr>
          <p:cNvSpPr/>
          <p:nvPr/>
        </p:nvSpPr>
        <p:spPr>
          <a:xfrm>
            <a:off x="2120796" y="3401262"/>
            <a:ext cx="2900826" cy="2310766"/>
          </a:xfrm>
          <a:prstGeom prst="sun">
            <a:avLst/>
          </a:prstGeom>
          <a:solidFill>
            <a:srgbClr val="FFFF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82AC5-43F7-439E-AB2B-4D6049C93554}"/>
              </a:ext>
            </a:extLst>
          </p:cNvPr>
          <p:cNvSpPr txBox="1"/>
          <p:nvPr/>
        </p:nvSpPr>
        <p:spPr>
          <a:xfrm>
            <a:off x="722428" y="1690688"/>
            <a:ext cx="1063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Функция </a:t>
            </a:r>
            <a:r>
              <a:rPr lang="ru-RU" dirty="0"/>
              <a:t>– это свойство объекта, которое определяет его назначение по отношению к другому объекту.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C2D05-AEED-4587-AAFF-DE473FCEF243}"/>
              </a:ext>
            </a:extLst>
          </p:cNvPr>
          <p:cNvSpPr txBox="1"/>
          <p:nvPr/>
        </p:nvSpPr>
        <p:spPr>
          <a:xfrm>
            <a:off x="4480090" y="3508121"/>
            <a:ext cx="2883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Обеспечение теплом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2F5D5-C698-4FD1-ADE4-1315F50C6913}"/>
              </a:ext>
            </a:extLst>
          </p:cNvPr>
          <p:cNvSpPr txBox="1"/>
          <p:nvPr/>
        </p:nvSpPr>
        <p:spPr>
          <a:xfrm>
            <a:off x="2674106" y="5947646"/>
            <a:ext cx="209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Объект «Солнце»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BB770-727F-4D1D-9AF2-D1A5000C315E}"/>
              </a:ext>
            </a:extLst>
          </p:cNvPr>
          <p:cNvSpPr txBox="1"/>
          <p:nvPr/>
        </p:nvSpPr>
        <p:spPr>
          <a:xfrm>
            <a:off x="8872460" y="4069943"/>
            <a:ext cx="2092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Объект: «Земля»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C54A4137-05BC-4699-B7CB-0549FC7F905B}"/>
              </a:ext>
            </a:extLst>
          </p:cNvPr>
          <p:cNvSpPr/>
          <p:nvPr/>
        </p:nvSpPr>
        <p:spPr>
          <a:xfrm>
            <a:off x="8182659" y="2319526"/>
            <a:ext cx="1500424" cy="1510468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49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FA61EB54-1966-4C78-8075-0CFFDFDB5F6D}"/>
              </a:ext>
            </a:extLst>
          </p:cNvPr>
          <p:cNvSpPr/>
          <p:nvPr/>
        </p:nvSpPr>
        <p:spPr>
          <a:xfrm>
            <a:off x="4462866" y="3231471"/>
            <a:ext cx="4365709" cy="2046276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72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BC57D-2797-433F-BD80-500ED3E7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61" y="381358"/>
            <a:ext cx="10515600" cy="1325563"/>
          </a:xfrm>
        </p:spPr>
        <p:txBody>
          <a:bodyPr/>
          <a:lstStyle/>
          <a:p>
            <a:r>
              <a:rPr lang="ru-RU" dirty="0"/>
              <a:t>Что такое функциональное требование?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4593-88FC-4F18-85B8-94FCB00DB69E}"/>
              </a:ext>
            </a:extLst>
          </p:cNvPr>
          <p:cNvSpPr txBox="1"/>
          <p:nvPr/>
        </p:nvSpPr>
        <p:spPr>
          <a:xfrm>
            <a:off x="766878" y="1690000"/>
            <a:ext cx="1035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Требование </a:t>
            </a:r>
            <a:r>
              <a:rPr lang="ru-RU" dirty="0"/>
              <a:t>– это совокупность условий, которым объект или его </a:t>
            </a:r>
            <a:r>
              <a:rPr lang="ru-RU" b="1" u="sng" dirty="0"/>
              <a:t>свойство </a:t>
            </a:r>
            <a:r>
              <a:rPr lang="ru-RU" dirty="0"/>
              <a:t>должны соответствовать.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4ACA8-9E44-4B11-A36F-7686FC613C01}"/>
              </a:ext>
            </a:extLst>
          </p:cNvPr>
          <p:cNvSpPr txBox="1"/>
          <p:nvPr/>
        </p:nvSpPr>
        <p:spPr>
          <a:xfrm>
            <a:off x="5086710" y="2342350"/>
            <a:ext cx="10351412" cy="646331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ru-RU" b="1" dirty="0"/>
              <a:t>Функция </a:t>
            </a:r>
            <a:r>
              <a:rPr lang="ru-RU" b="1" u="sng" dirty="0"/>
              <a:t>– это свойство объекта,</a:t>
            </a:r>
            <a:r>
              <a:rPr lang="ru-RU" dirty="0"/>
              <a:t> которое определяет </a:t>
            </a:r>
          </a:p>
          <a:p>
            <a:r>
              <a:rPr lang="ru-RU" dirty="0"/>
              <a:t>                     его назначение по отношению к другому объекту.</a:t>
            </a:r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4D6177C3-96CA-4576-B70F-DA3E1B8C1204}"/>
              </a:ext>
            </a:extLst>
          </p:cNvPr>
          <p:cNvSpPr/>
          <p:nvPr/>
        </p:nvSpPr>
        <p:spPr>
          <a:xfrm>
            <a:off x="7044668" y="2060020"/>
            <a:ext cx="1325610" cy="9286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05E27-F20F-4440-96CE-CBDF8412BEED}"/>
              </a:ext>
            </a:extLst>
          </p:cNvPr>
          <p:cNvSpPr txBox="1"/>
          <p:nvPr/>
        </p:nvSpPr>
        <p:spPr>
          <a:xfrm>
            <a:off x="1755825" y="4175681"/>
            <a:ext cx="10351412" cy="369332"/>
          </a:xfrm>
          <a:prstGeom prst="rect">
            <a:avLst/>
          </a:prstGeom>
          <a:noFill/>
          <a:scene3d>
            <a:camera prst="perspective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Если предъявляешь требования к функции объекта – это </a:t>
            </a:r>
            <a:r>
              <a:rPr lang="ru-RU" b="1" dirty="0">
                <a:solidFill>
                  <a:srgbClr val="FF0000"/>
                </a:solidFill>
              </a:rPr>
              <a:t>функциональное требование.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74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2AC1A-FCDA-4E47-BCD1-C8A83267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Требование ТЗ и </a:t>
            </a:r>
            <a:r>
              <a:rPr lang="ru-RU" i="1" dirty="0"/>
              <a:t>однозначное</a:t>
            </a:r>
            <a:r>
              <a:rPr lang="ru-RU" dirty="0"/>
              <a:t> функциональное требование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67991-7403-4E9E-A51A-02752A21BCF1}"/>
              </a:ext>
            </a:extLst>
          </p:cNvPr>
          <p:cNvSpPr txBox="1"/>
          <p:nvPr/>
        </p:nvSpPr>
        <p:spPr>
          <a:xfrm>
            <a:off x="400050" y="2183660"/>
            <a:ext cx="66738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Требование из ТЗ </a:t>
            </a:r>
          </a:p>
          <a:p>
            <a:r>
              <a:rPr lang="ru-RU" dirty="0"/>
              <a:t>«</a:t>
            </a:r>
            <a:r>
              <a:rPr lang="ru-RU" i="1" dirty="0">
                <a:highlight>
                  <a:srgbClr val="FFFF00"/>
                </a:highlight>
              </a:rPr>
              <a:t>Изделие должно отображать авиагоризонт</a:t>
            </a:r>
            <a:r>
              <a:rPr lang="ru-RU" dirty="0"/>
              <a:t>» - фактически это требование к </a:t>
            </a:r>
            <a:r>
              <a:rPr lang="ru-RU" dirty="0" err="1"/>
              <a:t>изделиию</a:t>
            </a:r>
            <a:r>
              <a:rPr lang="ru-RU" dirty="0"/>
              <a:t>, </a:t>
            </a:r>
            <a:r>
              <a:rPr lang="ru-RU" dirty="0" err="1"/>
              <a:t>котторое</a:t>
            </a:r>
            <a:r>
              <a:rPr lang="ru-RU" dirty="0"/>
              <a:t> определяет его функцию и данном случае функцию «</a:t>
            </a:r>
            <a:r>
              <a:rPr lang="ru-RU" b="1" i="1" dirty="0"/>
              <a:t>Индикация авиагоризонта</a:t>
            </a:r>
            <a:r>
              <a:rPr lang="ru-RU" dirty="0"/>
              <a:t>»</a:t>
            </a:r>
          </a:p>
          <a:p>
            <a:endParaRPr lang="ru-RU" dirty="0"/>
          </a:p>
          <a:p>
            <a:r>
              <a:rPr lang="ru-RU" dirty="0"/>
              <a:t>Функциональное требование. </a:t>
            </a:r>
          </a:p>
          <a:p>
            <a:r>
              <a:rPr lang="ru-RU" dirty="0"/>
              <a:t>«</a:t>
            </a:r>
            <a:r>
              <a:rPr lang="ru-RU" i="1" dirty="0">
                <a:highlight>
                  <a:srgbClr val="00FF00"/>
                </a:highlight>
              </a:rPr>
              <a:t>Изделие должно отображать авиагоризонт в кадре при условии, что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>
                <a:highlight>
                  <a:srgbClr val="00FF00"/>
                </a:highlight>
              </a:rPr>
              <a:t>Измерение угла крена от </a:t>
            </a:r>
            <a:r>
              <a:rPr lang="ru-RU" i="1" dirty="0" err="1">
                <a:highlight>
                  <a:srgbClr val="00FF00"/>
                </a:highlight>
              </a:rPr>
              <a:t>курсовертикали</a:t>
            </a:r>
            <a:r>
              <a:rPr lang="ru-RU" i="1" dirty="0">
                <a:highlight>
                  <a:srgbClr val="00FF00"/>
                </a:highlight>
              </a:rPr>
              <a:t> достоверно 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>
                <a:highlight>
                  <a:srgbClr val="00FF00"/>
                </a:highlight>
              </a:rPr>
              <a:t>Измерение угла тангажа от </a:t>
            </a:r>
            <a:r>
              <a:rPr lang="ru-RU" i="1" dirty="0" err="1">
                <a:highlight>
                  <a:srgbClr val="00FF00"/>
                </a:highlight>
              </a:rPr>
              <a:t>курсовертикали</a:t>
            </a:r>
            <a:r>
              <a:rPr lang="ru-RU" i="1" dirty="0">
                <a:highlight>
                  <a:srgbClr val="00FF00"/>
                </a:highlight>
              </a:rPr>
              <a:t> достоверно, иначе</a:t>
            </a:r>
          </a:p>
          <a:p>
            <a:r>
              <a:rPr lang="ru-RU" i="1" dirty="0">
                <a:highlight>
                  <a:srgbClr val="00FF00"/>
                </a:highlight>
              </a:rPr>
              <a:t>авиагоризонт не предъявляется на индикацию в кадре</a:t>
            </a:r>
            <a:r>
              <a:rPr lang="ru-RU" dirty="0"/>
              <a:t>» 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F1B4B08-8722-423C-80F0-C7C0F71B3259}"/>
              </a:ext>
            </a:extLst>
          </p:cNvPr>
          <p:cNvGrpSpPr/>
          <p:nvPr/>
        </p:nvGrpSpPr>
        <p:grpSpPr>
          <a:xfrm>
            <a:off x="7211031" y="1946914"/>
            <a:ext cx="4339619" cy="3589159"/>
            <a:chOff x="7211031" y="1946914"/>
            <a:chExt cx="4339619" cy="3589159"/>
          </a:xfrm>
        </p:grpSpPr>
        <p:pic>
          <p:nvPicPr>
            <p:cNvPr id="4" name="Picture 2" descr="Picture background">
              <a:extLst>
                <a:ext uri="{FF2B5EF4-FFF2-40B4-BE49-F238E27FC236}">
                  <a16:creationId xmlns:a16="http://schemas.microsoft.com/office/drawing/2014/main" id="{F6683D0E-A149-48A8-8771-F7E3D20A7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3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1031" y="1946914"/>
              <a:ext cx="4339619" cy="3589159"/>
            </a:xfrm>
            <a:prstGeom prst="rect">
              <a:avLst/>
            </a:prstGeom>
            <a:noFill/>
            <a:effectLst>
              <a:glow rad="127000">
                <a:schemeClr val="accent1">
                  <a:alpha val="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Picture background">
              <a:extLst>
                <a:ext uri="{FF2B5EF4-FFF2-40B4-BE49-F238E27FC236}">
                  <a16:creationId xmlns:a16="http://schemas.microsoft.com/office/drawing/2014/main" id="{046FCDDA-AC4E-4DC2-A8BE-CBC9AE9481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12" t="17256" r="37313" b="49836"/>
            <a:stretch/>
          </p:blipFill>
          <p:spPr bwMode="auto">
            <a:xfrm>
              <a:off x="8851901" y="2578099"/>
              <a:ext cx="1079500" cy="1181101"/>
            </a:xfrm>
            <a:prstGeom prst="rect">
              <a:avLst/>
            </a:prstGeom>
            <a:noFill/>
            <a:effectLst>
              <a:glow rad="127000">
                <a:schemeClr val="accent1">
                  <a:alpha val="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2997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690B7-15A6-4896-A300-EFC8DC63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4400" cy="714375"/>
          </a:xfrm>
        </p:spPr>
        <p:txBody>
          <a:bodyPr/>
          <a:lstStyle/>
          <a:p>
            <a:r>
              <a:rPr lang="ru-RU" i="1" dirty="0"/>
              <a:t>Требования к функциональному требованию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95429A-FAC6-41C2-BA09-4D8C78710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9500"/>
            <a:ext cx="10515600" cy="5097463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Атомарность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должна быть такой, чтобы требование нельзя было разделить на отдельные требования без потери завершенности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Однозначность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интерпретация одна и по другому прочитать </a:t>
            </a:r>
            <a:r>
              <a:rPr lang="ru-RU" sz="2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интерпретировать требование нельзя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Неизбыточность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содержать только то, что требуется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Непротиворечивость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должно быть внутренних противоречий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Реализуемость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должно содержаться нереализуемых условий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Проверяемость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(требование всегда можно проверить на соответствие)</a:t>
            </a:r>
          </a:p>
          <a:p>
            <a:pPr lvl="1"/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Верифицируемость</a:t>
            </a:r>
          </a:p>
          <a:p>
            <a:pPr lvl="1"/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качественных характеристик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Согласованность 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(требование не должно вступать в противоречие с другими требования изделия)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9668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0EAB9-8332-4148-B115-9D2CD3783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требования предъявляются на практике: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11F59A-4C91-46AB-BEE9-D9034D09B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4249"/>
            <a:ext cx="10515600" cy="4546601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к действиям объекта </a:t>
            </a:r>
          </a:p>
          <a:p>
            <a:pPr marL="0" indent="0">
              <a:buNone/>
            </a:pPr>
            <a:r>
              <a:rPr lang="ru-RU" sz="2000" dirty="0"/>
              <a:t>определяет, отображает, сохраняет, удаляет, изменяет, формирует, создает, принимает, выдает ….</a:t>
            </a:r>
          </a:p>
          <a:p>
            <a:r>
              <a:rPr lang="ru-RU" b="1" dirty="0"/>
              <a:t>к характеристикам действия </a:t>
            </a:r>
          </a:p>
          <a:p>
            <a:pPr marL="0" indent="0">
              <a:buNone/>
            </a:pPr>
            <a:r>
              <a:rPr lang="ru-RU" sz="2000" dirty="0"/>
              <a:t>определяет параметр со средней квадратической погрешностью…, </a:t>
            </a:r>
          </a:p>
          <a:p>
            <a:pPr marL="0" indent="0">
              <a:buNone/>
            </a:pPr>
            <a:r>
              <a:rPr lang="ru-RU" sz="2000" dirty="0"/>
              <a:t>отображает синим цветом (обязательно существует количественное описание синего цвета)…</a:t>
            </a:r>
          </a:p>
          <a:p>
            <a:r>
              <a:rPr lang="ru-RU" b="1" dirty="0"/>
              <a:t>к процедуре с объектом </a:t>
            </a:r>
            <a:r>
              <a:rPr lang="ru-RU" dirty="0"/>
              <a:t>(последовательности действий)</a:t>
            </a:r>
          </a:p>
          <a:p>
            <a:pPr marL="0" indent="0">
              <a:buNone/>
            </a:pPr>
            <a:r>
              <a:rPr lang="ru-RU" sz="2200" dirty="0"/>
              <a:t>выполняет процедуру подготовки к работе после инициализации следующим образом…</a:t>
            </a:r>
          </a:p>
          <a:p>
            <a:r>
              <a:rPr lang="ru-RU" b="1" dirty="0"/>
              <a:t>к конструкции объекта</a:t>
            </a:r>
          </a:p>
          <a:p>
            <a:pPr marL="0" indent="0">
              <a:buNone/>
            </a:pPr>
            <a:r>
              <a:rPr lang="ru-RU" sz="2400" dirty="0"/>
              <a:t>Из чего должен состоять объект или его компоненты.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90395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15FE4-7946-4C9D-BC45-9BA5F6ED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формирования требования к действиям: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090887-0D54-4566-BE4C-C900BB40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dirty="0"/>
              <a:t>Что известно из логики информационного обмена между Вычислителем высотно-скоростных параметров и навигационной системой:</a:t>
            </a:r>
          </a:p>
          <a:p>
            <a:pPr marL="0" indent="0">
              <a:buNone/>
            </a:pPr>
            <a:r>
              <a:rPr lang="ru-RU" dirty="0"/>
              <a:t>«</a:t>
            </a:r>
            <a:r>
              <a:rPr lang="ru-RU" i="1" dirty="0">
                <a:highlight>
                  <a:srgbClr val="00FF00"/>
                </a:highlight>
              </a:rPr>
              <a:t>Вычислитель высотно-скоростных параметров выдает в навигационную систему слово данных «Барометрическая высота». Кроме самой высоты в слове данных содержится признак </a:t>
            </a:r>
            <a:r>
              <a:rPr lang="ru-RU" i="1" dirty="0" err="1">
                <a:highlight>
                  <a:srgbClr val="00FF00"/>
                </a:highlight>
              </a:rPr>
              <a:t>бароинерциальной</a:t>
            </a:r>
            <a:r>
              <a:rPr lang="ru-RU" i="1" dirty="0">
                <a:highlight>
                  <a:srgbClr val="00FF00"/>
                </a:highlight>
              </a:rPr>
              <a:t> высоты. </a:t>
            </a:r>
          </a:p>
          <a:p>
            <a:pPr marL="0" indent="0">
              <a:buNone/>
            </a:pPr>
            <a:r>
              <a:rPr lang="ru-RU" i="1" dirty="0">
                <a:highlight>
                  <a:srgbClr val="00FF00"/>
                </a:highlight>
              </a:rPr>
              <a:t>Пока не накопилось более 100 достоверных измерений после пропадания сигнала обжатия шасси, вычислитель высотно-скоростных параметров не формирует признак </a:t>
            </a:r>
            <a:r>
              <a:rPr lang="ru-RU" i="1" dirty="0" err="1">
                <a:highlight>
                  <a:srgbClr val="00FF00"/>
                </a:highlight>
              </a:rPr>
              <a:t>бароинерциальной</a:t>
            </a:r>
            <a:r>
              <a:rPr lang="ru-RU" i="1" dirty="0">
                <a:highlight>
                  <a:srgbClr val="00FF00"/>
                </a:highlight>
              </a:rPr>
              <a:t> высоты (значение «0») в указанном слове данных. Как только 100 достоверных измерений накопилось, вычислитель высотно-скоростных параметров передает в слове данных такой признак (значение «1») . Когда в слове данных «Барометрическая высота» передается признак </a:t>
            </a:r>
            <a:r>
              <a:rPr lang="ru-RU" i="1" dirty="0" err="1">
                <a:highlight>
                  <a:srgbClr val="00FF00"/>
                </a:highlight>
              </a:rPr>
              <a:t>бароинерциальной</a:t>
            </a:r>
            <a:r>
              <a:rPr lang="ru-RU" i="1" dirty="0">
                <a:highlight>
                  <a:srgbClr val="00FF00"/>
                </a:highlight>
              </a:rPr>
              <a:t> </a:t>
            </a:r>
            <a:r>
              <a:rPr lang="ru-RU" i="1" dirty="0" err="1">
                <a:highlight>
                  <a:srgbClr val="00FF00"/>
                </a:highlight>
              </a:rPr>
              <a:t>высотыЮ</a:t>
            </a:r>
            <a:r>
              <a:rPr lang="ru-RU" i="1" dirty="0">
                <a:highlight>
                  <a:srgbClr val="00FF00"/>
                </a:highlight>
              </a:rPr>
              <a:t> навигационная системы должна интерпретировать, передаваемое значение как значение </a:t>
            </a:r>
            <a:r>
              <a:rPr lang="ru-RU" i="1" dirty="0" err="1">
                <a:highlight>
                  <a:srgbClr val="00FF00"/>
                </a:highlight>
              </a:rPr>
              <a:t>бароинерциальной</a:t>
            </a:r>
            <a:r>
              <a:rPr lang="ru-RU" i="1" dirty="0">
                <a:highlight>
                  <a:srgbClr val="00FF00"/>
                </a:highlight>
              </a:rPr>
              <a:t> высоты.</a:t>
            </a:r>
          </a:p>
          <a:p>
            <a:pPr marL="0" indent="0">
              <a:buNone/>
            </a:pPr>
            <a:r>
              <a:rPr lang="ru-RU" i="1" dirty="0">
                <a:highlight>
                  <a:srgbClr val="00FF00"/>
                </a:highlight>
              </a:rPr>
              <a:t>Передаваемые параметры в слове данных достоверным, если матрица состояния слова в значении «Нормальная работа</a:t>
            </a:r>
            <a:r>
              <a:rPr lang="ru-RU" dirty="0"/>
              <a:t>».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Сформируем 2 требования к навигационной системе, в котором она определяет значение параметра «</a:t>
            </a:r>
            <a:r>
              <a:rPr lang="ru-RU" dirty="0" err="1"/>
              <a:t>Бароинерциальная</a:t>
            </a:r>
            <a:r>
              <a:rPr lang="ru-RU" dirty="0"/>
              <a:t> высота» и параметра «Барометрическая высота».</a:t>
            </a:r>
          </a:p>
          <a:p>
            <a:pPr marL="0" indent="0">
              <a:buNone/>
            </a:pPr>
            <a:r>
              <a:rPr lang="ru-RU" dirty="0"/>
              <a:t>Требование 1. Определение Барометрической высоты.</a:t>
            </a:r>
          </a:p>
          <a:p>
            <a:pPr marL="0" indent="0">
              <a:buNone/>
            </a:pPr>
            <a:r>
              <a:rPr lang="ru-RU" i="1" dirty="0">
                <a:highlight>
                  <a:srgbClr val="FFFF00"/>
                </a:highlight>
              </a:rPr>
              <a:t>Навигационная система определяет параметр «Барометрическая высота»:</a:t>
            </a:r>
          </a:p>
          <a:p>
            <a:r>
              <a:rPr lang="ru-RU" i="1" dirty="0">
                <a:highlight>
                  <a:srgbClr val="FFFF00"/>
                </a:highlight>
              </a:rPr>
              <a:t>достоверным и равным значению, передаваемому в слове «Барометрическая высота», при условии, что </a:t>
            </a:r>
          </a:p>
          <a:p>
            <a:pPr lvl="1"/>
            <a:r>
              <a:rPr lang="ru-RU" i="1" dirty="0">
                <a:highlight>
                  <a:srgbClr val="FFFF00"/>
                </a:highlight>
              </a:rPr>
              <a:t>признак </a:t>
            </a:r>
            <a:r>
              <a:rPr lang="ru-RU" i="1" dirty="0" err="1">
                <a:highlight>
                  <a:srgbClr val="FFFF00"/>
                </a:highlight>
              </a:rPr>
              <a:t>бароинерциональной</a:t>
            </a:r>
            <a:r>
              <a:rPr lang="ru-RU" i="1" dirty="0">
                <a:highlight>
                  <a:srgbClr val="FFFF00"/>
                </a:highlight>
              </a:rPr>
              <a:t> высоты равен «0» и</a:t>
            </a:r>
          </a:p>
          <a:p>
            <a:pPr lvl="1"/>
            <a:r>
              <a:rPr lang="ru-RU" i="1" dirty="0">
                <a:highlight>
                  <a:srgbClr val="FFFF00"/>
                </a:highlight>
              </a:rPr>
              <a:t>матрица состояния слова в значении «Нормальная работа», иначе</a:t>
            </a:r>
          </a:p>
          <a:p>
            <a:r>
              <a:rPr lang="ru-RU" i="1" dirty="0">
                <a:highlight>
                  <a:srgbClr val="FFFF00"/>
                </a:highlight>
              </a:rPr>
              <a:t>Недостоверным и равным последнему достоверному значению.</a:t>
            </a:r>
          </a:p>
          <a:p>
            <a:pPr marL="0" indent="0">
              <a:buNone/>
            </a:pPr>
            <a:r>
              <a:rPr lang="ru-RU" dirty="0"/>
              <a:t>Требование 2. Определение </a:t>
            </a:r>
            <a:r>
              <a:rPr lang="ru-RU" dirty="0" err="1"/>
              <a:t>Бароинерциальной</a:t>
            </a:r>
            <a:r>
              <a:rPr lang="ru-RU" dirty="0"/>
              <a:t> высоты.</a:t>
            </a:r>
          </a:p>
          <a:p>
            <a:pPr marL="0" indent="0">
              <a:buNone/>
            </a:pPr>
            <a:r>
              <a:rPr lang="ru-RU" i="1" dirty="0">
                <a:highlight>
                  <a:srgbClr val="C0C0C0"/>
                </a:highlight>
              </a:rPr>
              <a:t>Навигационная система определяет параметр «</a:t>
            </a:r>
            <a:r>
              <a:rPr lang="ru-RU" i="1" dirty="0" err="1">
                <a:highlight>
                  <a:srgbClr val="C0C0C0"/>
                </a:highlight>
              </a:rPr>
              <a:t>Бароинерциальная</a:t>
            </a:r>
            <a:r>
              <a:rPr lang="ru-RU" i="1" dirty="0">
                <a:highlight>
                  <a:srgbClr val="C0C0C0"/>
                </a:highlight>
              </a:rPr>
              <a:t> высота»:</a:t>
            </a:r>
          </a:p>
          <a:p>
            <a:pPr lvl="1"/>
            <a:r>
              <a:rPr lang="ru-RU" i="1" dirty="0">
                <a:highlight>
                  <a:srgbClr val="C0C0C0"/>
                </a:highlight>
              </a:rPr>
              <a:t>достоверным и равным значению, передаваемому в слове «Барометрическая высота», при условии, что </a:t>
            </a:r>
          </a:p>
          <a:p>
            <a:pPr lvl="2"/>
            <a:r>
              <a:rPr lang="ru-RU" i="1" dirty="0">
                <a:highlight>
                  <a:srgbClr val="C0C0C0"/>
                </a:highlight>
              </a:rPr>
              <a:t>признак </a:t>
            </a:r>
            <a:r>
              <a:rPr lang="ru-RU" i="1" dirty="0" err="1">
                <a:highlight>
                  <a:srgbClr val="C0C0C0"/>
                </a:highlight>
              </a:rPr>
              <a:t>бароинерциональной</a:t>
            </a:r>
            <a:r>
              <a:rPr lang="ru-RU" i="1" dirty="0">
                <a:highlight>
                  <a:srgbClr val="C0C0C0"/>
                </a:highlight>
              </a:rPr>
              <a:t> высоты равен «1»  и</a:t>
            </a:r>
          </a:p>
          <a:p>
            <a:pPr lvl="2"/>
            <a:r>
              <a:rPr lang="ru-RU" i="1" dirty="0">
                <a:highlight>
                  <a:srgbClr val="C0C0C0"/>
                </a:highlight>
              </a:rPr>
              <a:t>матрица состояния слова в значении «Нормальная работа», иначе</a:t>
            </a:r>
          </a:p>
          <a:p>
            <a:pPr lvl="1"/>
            <a:r>
              <a:rPr lang="ru-RU" i="1" dirty="0">
                <a:highlight>
                  <a:srgbClr val="C0C0C0"/>
                </a:highlight>
              </a:rPr>
              <a:t>недостоверным и равным последнему достоверному значению.</a:t>
            </a:r>
            <a:endParaRPr lang="ru-RU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48995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725E5-EE6D-4C4C-A412-34693C14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примеры формирования требования к действиям: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C524E3-A0D7-448D-B291-52521741F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Требование к выдаче данных по интерфейсу</a:t>
            </a:r>
          </a:p>
          <a:p>
            <a:pPr marL="0" indent="0">
              <a:buNone/>
            </a:pPr>
            <a:r>
              <a:rPr lang="ru-RU" i="1" dirty="0">
                <a:highlight>
                  <a:srgbClr val="C0C0C0"/>
                </a:highlight>
              </a:rPr>
              <a:t>Выдача информации от Вычислителя высотно-скоростных параметров на навигационную систему должна осуществляться согласно таблице «Выходные интерфейсы ДПК ВВСП».</a:t>
            </a:r>
          </a:p>
          <a:p>
            <a:pPr marL="0" indent="0">
              <a:buNone/>
            </a:pPr>
            <a:r>
              <a:rPr lang="ru-RU" b="1" dirty="0"/>
              <a:t>Требование к индикации параметра</a:t>
            </a:r>
          </a:p>
          <a:p>
            <a:pPr marL="0" indent="0">
              <a:buNone/>
            </a:pPr>
            <a:r>
              <a:rPr lang="ru-RU" i="1" dirty="0">
                <a:highlight>
                  <a:srgbClr val="FFFF00"/>
                </a:highlight>
              </a:rPr>
              <a:t>Индикатор навигационной системы должен предъявлять на индикацию в кадре «НАВИГАЦИЯ» температуру наружного воздуха следующим образом.</a:t>
            </a:r>
          </a:p>
          <a:p>
            <a:pPr marL="514350" indent="-514350">
              <a:buAutoNum type="arabicParenR"/>
            </a:pPr>
            <a:r>
              <a:rPr lang="ru-RU" i="1" dirty="0">
                <a:highlight>
                  <a:srgbClr val="FFFF00"/>
                </a:highlight>
              </a:rPr>
              <a:t>Белым цветом, шрифтом …, размером …., с точностью до … знака – достоверное значение параметра (см. рис…).</a:t>
            </a:r>
          </a:p>
          <a:p>
            <a:pPr marL="514350" indent="-514350">
              <a:buAutoNum type="arabicParenR"/>
            </a:pPr>
            <a:r>
              <a:rPr lang="ru-RU" i="1" dirty="0">
                <a:highlight>
                  <a:srgbClr val="FFFF00"/>
                </a:highlight>
              </a:rPr>
              <a:t>Желтым перекрестием– недостоверное значение параметра (см. рис…).</a:t>
            </a:r>
          </a:p>
          <a:p>
            <a:pPr marL="0" indent="0">
              <a:buNone/>
            </a:pPr>
            <a:r>
              <a:rPr lang="ru-RU" i="1" dirty="0">
                <a:highlight>
                  <a:srgbClr val="FFFF00"/>
                </a:highlight>
              </a:rPr>
              <a:t>Характеристики расположения объекта в кадре «НАВИГАЦИЯ» представлены в ….</a:t>
            </a:r>
          </a:p>
        </p:txBody>
      </p:sp>
    </p:spTree>
    <p:extLst>
      <p:ext uri="{BB962C8B-B14F-4D97-AF65-F5344CB8AC3E}">
        <p14:creationId xmlns:p14="http://schemas.microsoft.com/office/powerpoint/2010/main" val="8126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4B8AC-5C9E-4825-8D25-FB2FFE6B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формирования требования к характеристикам: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D7B898-43F4-42E4-9550-AA4DAA47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Иногда мы не знаем, как будут вычислять какой-то параметр в ПО («ноу-хау» смежной организации, которое разрабатывает ПО).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i="1" dirty="0">
                <a:highlight>
                  <a:srgbClr val="FFFF00"/>
                </a:highlight>
              </a:rPr>
              <a:t>Система должна вычислять координаты местоположения ВС (параметр «Долгота» и «Широта») в условиях нормального маневрирования погрешность определения местоположения с вероятностью 0,95 (</a:t>
            </a:r>
            <a:r>
              <a:rPr lang="en-US" i="1" dirty="0">
                <a:highlight>
                  <a:srgbClr val="FFFF00"/>
                </a:highlight>
              </a:rPr>
              <a:t>HFOM</a:t>
            </a:r>
            <a:r>
              <a:rPr lang="ru-RU" i="1" dirty="0">
                <a:highlight>
                  <a:srgbClr val="FFFF00"/>
                </a:highlight>
              </a:rPr>
              <a:t>) не хуже … метров.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2072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00D2F-E005-4E86-A6DC-C6769736C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формирования требования к процедурам: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716CEE-04B2-48D3-ACF9-3C496CAF9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i="1" dirty="0">
                <a:highlight>
                  <a:srgbClr val="FFFF00"/>
                </a:highlight>
              </a:rPr>
              <a:t>При подаче электропитания БАРК </a:t>
            </a:r>
            <a:r>
              <a:rPr lang="ru-RU" b="1" i="1" dirty="0">
                <a:highlight>
                  <a:srgbClr val="FFFF00"/>
                </a:highlight>
              </a:rPr>
              <a:t>должен</a:t>
            </a:r>
            <a:r>
              <a:rPr lang="ru-RU" i="1" dirty="0">
                <a:highlight>
                  <a:srgbClr val="FFFF00"/>
                </a:highlight>
              </a:rPr>
              <a:t> выполнить предварительный контроль в соответствии с ….</a:t>
            </a:r>
          </a:p>
          <a:p>
            <a:pPr marL="0" indent="0">
              <a:buNone/>
            </a:pPr>
            <a:r>
              <a:rPr lang="ru-RU" i="1" dirty="0">
                <a:highlight>
                  <a:srgbClr val="00FF00"/>
                </a:highlight>
              </a:rPr>
              <a:t>Если при выполнении предварительного контроля отказ основной САУ по управлению двигателем не обнаружен, то БАРК:</a:t>
            </a:r>
          </a:p>
          <a:p>
            <a:pPr marL="0" indent="0">
              <a:buNone/>
            </a:pPr>
            <a:r>
              <a:rPr lang="ru-RU" i="1" dirty="0">
                <a:highlight>
                  <a:srgbClr val="00FF00"/>
                </a:highlight>
              </a:rPr>
              <a:t> - снимает команду «Переход на …» в соответствии с … и</a:t>
            </a:r>
          </a:p>
          <a:p>
            <a:pPr>
              <a:buFontTx/>
              <a:buChar char="-"/>
            </a:pPr>
            <a:r>
              <a:rPr lang="ru-RU" i="1" dirty="0">
                <a:highlight>
                  <a:srgbClr val="00FF00"/>
                </a:highlight>
              </a:rPr>
              <a:t>выполняет определение состояния работы двигателя в соответствии с …, и  </a:t>
            </a:r>
          </a:p>
          <a:p>
            <a:pPr>
              <a:buFontTx/>
              <a:buChar char="-"/>
            </a:pPr>
            <a:r>
              <a:rPr lang="ru-RU" i="1" dirty="0">
                <a:highlight>
                  <a:srgbClr val="00FF00"/>
                </a:highlight>
              </a:rPr>
              <a:t>контролирует частоту вращения ротора ТК в соответствии с ….</a:t>
            </a:r>
          </a:p>
          <a:p>
            <a:pPr marL="0" indent="0">
              <a:buNone/>
            </a:pPr>
            <a:r>
              <a:rPr lang="ru-RU" i="1" dirty="0">
                <a:highlight>
                  <a:srgbClr val="00FFFF"/>
                </a:highlight>
              </a:rPr>
              <a:t>Если при выполнении предварительного контроля отказ основной САУ по управлению </a:t>
            </a:r>
            <a:r>
              <a:rPr lang="ru-RU" i="1">
                <a:highlight>
                  <a:srgbClr val="00FFFF"/>
                </a:highlight>
              </a:rPr>
              <a:t>двигателем обнаружен </a:t>
            </a:r>
            <a:r>
              <a:rPr lang="ru-RU" i="1" dirty="0">
                <a:highlight>
                  <a:srgbClr val="00FFFF"/>
                </a:highlight>
              </a:rPr>
              <a:t>, то БАРК контролирует частоту вращения ротора ТК в соответствии с …. </a:t>
            </a:r>
          </a:p>
        </p:txBody>
      </p:sp>
    </p:spTree>
    <p:extLst>
      <p:ext uri="{BB962C8B-B14F-4D97-AF65-F5344CB8AC3E}">
        <p14:creationId xmlns:p14="http://schemas.microsoft.com/office/powerpoint/2010/main" val="367221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417159-7F9E-4765-8ABF-1411DA40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формирования требования к конструкции: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BF5E1C-72F6-4797-BC77-74C392287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0" i="1" dirty="0">
                <a:solidFill>
                  <a:srgbClr val="333333"/>
                </a:solidFill>
                <a:effectLst/>
                <a:highlight>
                  <a:srgbClr val="00FF00"/>
                </a:highlight>
                <a:latin typeface="YS Text"/>
              </a:rPr>
              <a:t>Оборудование должно быть сконструировано таким образом, чтобы обеспечивать электромагнитную совместимость с бортовым оборудованием в соответстви</a:t>
            </a:r>
            <a:r>
              <a:rPr lang="ru-RU" i="1" dirty="0">
                <a:solidFill>
                  <a:srgbClr val="333333"/>
                </a:solidFill>
                <a:highlight>
                  <a:srgbClr val="00FF00"/>
                </a:highlight>
                <a:latin typeface="YS Text"/>
              </a:rPr>
              <a:t>и с ГОСТ … пункт …</a:t>
            </a:r>
          </a:p>
          <a:p>
            <a:pPr marL="0" indent="0">
              <a:buNone/>
            </a:pPr>
            <a:endParaRPr lang="ru-RU" dirty="0">
              <a:solidFill>
                <a:srgbClr val="333333"/>
              </a:solidFill>
              <a:latin typeface="YS Text"/>
            </a:endParaRPr>
          </a:p>
          <a:p>
            <a:pPr marL="0" indent="0">
              <a:buNone/>
            </a:pPr>
            <a:r>
              <a:rPr lang="ru-RU" b="0" i="1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YS Text"/>
              </a:rPr>
              <a:t>Корпус и элементы конструкции должны выдерживать эксплуатационные нагрузки: вибрации, удары, линейные ускорения с соответствии с документ… пункт … для условии ….. В ином случае, соответствовать документ … пункт…</a:t>
            </a:r>
          </a:p>
          <a:p>
            <a:pPr marL="0" indent="0">
              <a:buNone/>
            </a:pPr>
            <a:endParaRPr lang="ru-RU" i="1" dirty="0">
              <a:solidFill>
                <a:srgbClr val="333333"/>
              </a:solidFill>
              <a:highlight>
                <a:srgbClr val="FFFF00"/>
              </a:highlight>
              <a:latin typeface="YS Text"/>
            </a:endParaRPr>
          </a:p>
          <a:p>
            <a:pPr marL="0" indent="0">
              <a:buNone/>
            </a:pPr>
            <a:r>
              <a:rPr lang="ru-RU" i="1" dirty="0">
                <a:highlight>
                  <a:srgbClr val="FFFF00"/>
                </a:highlight>
              </a:rPr>
              <a:t>В каждом случае, должны быть выписаны требования из указанных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185800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3098A-4F41-4AD0-B635-0B6728F1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Характеристики требований: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1BC8DB-CC41-42A7-A221-6CA9D470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10" y="1825625"/>
            <a:ext cx="1093449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Требования идентифицируются (</a:t>
            </a:r>
            <a:r>
              <a:rPr lang="ru-RU" i="1" dirty="0"/>
              <a:t>Идентификатор требований</a:t>
            </a:r>
            <a:r>
              <a:rPr lang="ru-RU" dirty="0"/>
              <a:t>)</a:t>
            </a:r>
          </a:p>
          <a:p>
            <a:r>
              <a:rPr lang="ru-RU" dirty="0"/>
              <a:t>Требования развиваются – изменяются (</a:t>
            </a:r>
            <a:r>
              <a:rPr lang="ru-RU" i="1" dirty="0"/>
              <a:t>Версионность требования</a:t>
            </a:r>
            <a:r>
              <a:rPr lang="ru-RU" dirty="0"/>
              <a:t>)</a:t>
            </a:r>
          </a:p>
          <a:p>
            <a:r>
              <a:rPr lang="ru-RU" dirty="0"/>
              <a:t>Требования трассируются на что-то или обосновываются (</a:t>
            </a:r>
            <a:r>
              <a:rPr lang="ru-RU" i="1" dirty="0"/>
              <a:t>производные, дочерние, допущения</a:t>
            </a:r>
            <a:r>
              <a:rPr lang="ru-RU" dirty="0"/>
              <a:t>)</a:t>
            </a:r>
          </a:p>
          <a:p>
            <a:r>
              <a:rPr lang="ru-RU" dirty="0"/>
              <a:t>Требования покрывают выполнение функции (</a:t>
            </a:r>
            <a:r>
              <a:rPr lang="ru-RU" i="1" dirty="0"/>
              <a:t>связь с функцией</a:t>
            </a:r>
            <a:r>
              <a:rPr lang="ru-RU" dirty="0"/>
              <a:t>)</a:t>
            </a:r>
          </a:p>
          <a:p>
            <a:r>
              <a:rPr lang="ru-RU" dirty="0"/>
              <a:t>Требования </a:t>
            </a:r>
            <a:r>
              <a:rPr lang="ru-RU" dirty="0" err="1"/>
              <a:t>алоцируются</a:t>
            </a:r>
            <a:r>
              <a:rPr lang="ru-RU" dirty="0"/>
              <a:t> (</a:t>
            </a:r>
            <a:r>
              <a:rPr lang="ru-RU" i="1" dirty="0"/>
              <a:t>для </a:t>
            </a:r>
            <a:r>
              <a:rPr lang="en-US" i="1" dirty="0"/>
              <a:t>PSSA </a:t>
            </a:r>
            <a:r>
              <a:rPr lang="ru-RU" i="1" dirty="0"/>
              <a:t>важно изучить как работает система и каждое требование к КИ необходимо привязать к компоненте системы в целях изучения безопасности системы</a:t>
            </a:r>
            <a:r>
              <a:rPr lang="ru-RU" dirty="0"/>
              <a:t>)</a:t>
            </a:r>
          </a:p>
          <a:p>
            <a:r>
              <a:rPr lang="ru-RU" dirty="0"/>
              <a:t>Требования </a:t>
            </a:r>
            <a:r>
              <a:rPr lang="ru-RU" dirty="0" err="1"/>
              <a:t>валидируются</a:t>
            </a:r>
            <a:r>
              <a:rPr lang="ru-RU" dirty="0"/>
              <a:t> и верифицируются (</a:t>
            </a:r>
            <a:r>
              <a:rPr lang="ru-RU" i="1" dirty="0"/>
              <a:t>нужно знать какими методами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8490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1050</Words>
  <Application>Microsoft Office PowerPoint</Application>
  <PresentationFormat>Широкоэкранный</PresentationFormat>
  <Paragraphs>98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 Font with Serifs</vt:lpstr>
      <vt:lpstr>Arial</vt:lpstr>
      <vt:lpstr>Calibri</vt:lpstr>
      <vt:lpstr>Calibri Light</vt:lpstr>
      <vt:lpstr>Times New Roman</vt:lpstr>
      <vt:lpstr>YS Text</vt:lpstr>
      <vt:lpstr>Тема Office</vt:lpstr>
      <vt:lpstr>Что такое функциональные требования  и  как их разрабатывать</vt:lpstr>
      <vt:lpstr>Свойства объекта</vt:lpstr>
      <vt:lpstr>Что такое функция?</vt:lpstr>
      <vt:lpstr>Что такое функциональное требование?</vt:lpstr>
      <vt:lpstr>Требование ТЗ и однозначное функциональное требование</vt:lpstr>
      <vt:lpstr>Требования к функциональному требованию</vt:lpstr>
      <vt:lpstr>Функциональные требования предъявляются на практике:</vt:lpstr>
      <vt:lpstr>Пример формирования требования к действиям:</vt:lpstr>
      <vt:lpstr>Еще примеры формирования требования к действиям:</vt:lpstr>
      <vt:lpstr>Примеры формирования требования к характеристикам:</vt:lpstr>
      <vt:lpstr>Примеры формирования требования к процедурам:</vt:lpstr>
      <vt:lpstr>Примеры формирования требования к конструкции:</vt:lpstr>
      <vt:lpstr>Характеристики требований: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такое функциональные требования</dc:title>
  <dc:creator>Дмитрий Финошин</dc:creator>
  <cp:lastModifiedBy>Дмитрий Финошин</cp:lastModifiedBy>
  <cp:revision>33</cp:revision>
  <dcterms:created xsi:type="dcterms:W3CDTF">2026-09-02T16:55:23Z</dcterms:created>
  <dcterms:modified xsi:type="dcterms:W3CDTF">2026-09-06T17:56:30Z</dcterms:modified>
</cp:coreProperties>
</file>